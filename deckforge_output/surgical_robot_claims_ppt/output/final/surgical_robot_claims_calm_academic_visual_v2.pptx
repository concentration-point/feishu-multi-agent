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11201400" cy="5897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D89A2B"/>
                </a:solidFill>
                <a:latin typeface="Microsoft YaHei"/>
              </a:rPr>
              <a:t>课堂汇报 · Calm Academic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61264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专利权利要求 + 引文</a:t>
            </a:r>
            <a:br/>
            <a:r>
              <a:t>技术起源与演化分析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880360"/>
            <a:ext cx="54864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Microsoft YaHei"/>
              </a:rPr>
              <a:t>Technological origination and evolution analysis by combining patent claims and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530352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Qiu &amp; Wang · Advanced Engineering Informatics · 2023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Case: surgical robot domain · 3313 USPTO patents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132588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7" y="1673352"/>
            <a:ext cx="10972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icrosoft YaHei"/>
              </a:rPr>
              <a:t>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103120"/>
            <a:ext cx="132588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313432"/>
            <a:ext cx="10972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icrosoft YaHei"/>
              </a:rPr>
              <a:t>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291840"/>
            <a:ext cx="132588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3502152"/>
            <a:ext cx="10972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icrosoft YaHei"/>
              </a:rPr>
              <a:t>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4114800"/>
            <a:ext cx="132588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7" y="4325112"/>
            <a:ext cx="10972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icrosoft YaHei"/>
              </a:rPr>
              <a:t>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1783080"/>
            <a:ext cx="411480" cy="548640"/>
          </a:xfrm>
          <a:prstGeom prst="line">
            <a:avLst/>
          </a:prstGeom>
          <a:ln w="19050">
            <a:solidFill>
              <a:srgbClr val="D89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595360" y="2697480"/>
            <a:ext cx="1188720" cy="731520"/>
          </a:xfrm>
          <a:prstGeom prst="line">
            <a:avLst/>
          </a:prstGeom>
          <a:ln w="19050">
            <a:solidFill>
              <a:srgbClr val="D89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3657600"/>
            <a:ext cx="1005840" cy="594360"/>
          </a:xfrm>
          <a:prstGeom prst="line">
            <a:avLst/>
          </a:prstGeom>
          <a:ln w="19050">
            <a:solidFill>
              <a:srgbClr val="D89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研究问题：趋势分析还不够，还要解释技术从哪来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核心缺口：现有方法重发展轨迹，轻技术 origin 与融合机制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937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3619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传统 patent trend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425196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统计 / 时间序列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文本挖掘：keyword、SAO、LDA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citation network / main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886200"/>
            <a:ext cx="4251960" cy="1143000"/>
          </a:xfrm>
          <a:prstGeom prst="roundRect">
            <a:avLst/>
          </a:prstGeom>
          <a:solidFill>
            <a:srgbClr val="E8EEF5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160520"/>
            <a:ext cx="374903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问题：知道“怎么发展”，但很难知道“技术细节从哪继承”。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3619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本文的切入点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911096"/>
            <a:ext cx="4535424" cy="238658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_workflow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38528"/>
            <a:ext cx="4480560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9400" y="4617720"/>
            <a:ext cx="44805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把 claim 当作 technical element，再用 citation 提供继承方向。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方法总览：claim-level 技术元素 + citation 继承方向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这页用信息图承载框架，减少文本框拥挤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07008"/>
            <a:ext cx="10707624" cy="448970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work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5276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一句话：claims 给“技术细节”，citations 给“继承链路”，main path 给“演化故事”。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关键指标 TI：把 citation 从“有无关系”变成“继承强度”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公式改成安全示意，避免 PPT 数学符号乱码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2286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Citing patent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286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Microsoft YaHei"/>
              </a:rPr>
              <a:t>claim_i_1 ... claim_i_m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64208"/>
            <a:ext cx="2286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Cited patent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93392"/>
            <a:ext cx="2286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Microsoft YaHei"/>
              </a:rPr>
              <a:t>claim_j_1 ... claim_j_k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1880" y="1920240"/>
            <a:ext cx="4937760" cy="0"/>
          </a:xfrm>
          <a:prstGeom prst="line">
            <a:avLst/>
          </a:prstGeom>
          <a:ln w="19050">
            <a:solidFill>
              <a:srgbClr val="D89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1572768"/>
            <a:ext cx="2926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max cosine 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246120"/>
            <a:ext cx="8138160" cy="1417320"/>
          </a:xfrm>
          <a:prstGeom prst="roundRect">
            <a:avLst/>
          </a:prstGeom>
          <a:solidFill>
            <a:srgbClr val="E8EEF5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520440"/>
            <a:ext cx="7498079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icrosoft YaHei"/>
              </a:rPr>
              <a:t>TI(i,j) = average of max claim similarities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05072"/>
            <a:ext cx="72237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Interpretation: higher TI means stronger claim-level inheritance in a citation.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9692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不在 PPT 文本框里硬放复杂下标公式；课堂讲解用“平均最大相似度”即可。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例子：为每个 claim 找 main technical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文献图替代纯文字解释：US5887121 的 claim 来源分析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43000"/>
            <a:ext cx="6547103" cy="480974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7_origin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0432"/>
            <a:ext cx="649224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45920"/>
            <a:ext cx="3429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</a:rPr>
              <a:t>怎么读这页图？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200400" cy="2286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右侧：目标专利 claims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左侧：被引用专利中的来源 claims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箭头：citation + overlap terms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用途：解释技术元素如何继承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983480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Takeaway：origin analysis 能把抽象 citation 拆成具体 claim 来源。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TEP：按时间窗找重要技术元素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用文献 Table 4 展示 2011–2015 与 2016–2020 的变化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15568"/>
            <a:ext cx="6684264" cy="476402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ble4_important_element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62940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325880"/>
            <a:ext cx="3749039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2763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</a:rPr>
              <a:t>变化趋势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84831"/>
            <a:ext cx="297180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2011–2015：机械臂运动控制、X-ray / CT、内窥镜控制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2016–2020：系统、微处理器、微创与内窥镜更突出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TEP 快速增大：说明领域近年发展加速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5029200"/>
            <a:ext cx="2971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别堆全表，讲排名迁移。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案例数据与网络：3313 件 surgical robot 专利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数据卡 + 文献网络图，降低全文字感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3313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patents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344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13,097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internal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12344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141732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7.906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173736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avg degree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12344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41732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0.122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173736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median 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9216" y="12344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656" y="141732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0.077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656" y="173736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avg 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395728"/>
            <a:ext cx="5541264" cy="339242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21_rni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5486400" cy="33375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601968" y="2395728"/>
            <a:ext cx="4718303" cy="339242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ata_stats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23160"/>
            <a:ext cx="46634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四条主路径：把复杂网络压成可讲的演化路线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用文献 Table 5 + 右侧提炼，而不是满页文字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15568"/>
            <a:ext cx="6135624" cy="494690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ble5_main_path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08076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417320"/>
            <a:ext cx="4069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81912"/>
            <a:ext cx="4114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57276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定位与切割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286000"/>
            <a:ext cx="4069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450592"/>
            <a:ext cx="4114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44144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X-ray / scanning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154680"/>
            <a:ext cx="4069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319272"/>
            <a:ext cx="4114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101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眼科 / 头部手术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023360"/>
            <a:ext cx="4069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187952"/>
            <a:ext cx="4114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7880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骨科定位操作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5074920"/>
            <a:ext cx="4069080" cy="594360"/>
          </a:xfrm>
          <a:prstGeom prst="roundRect">
            <a:avLst/>
          </a:prstGeom>
          <a:solidFill>
            <a:srgbClr val="E8EEF5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5285232"/>
            <a:ext cx="347472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Takeaway：main path 是演化叙事，不是单纯节点列表。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技术融合：定位 + 影像 + 导航逐步组合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文献 Fig.23 是这篇论文最值得展示的图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51560"/>
            <a:ext cx="7461504" cy="531266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3_fusion_proces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406640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80160"/>
            <a:ext cx="3154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57276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icrosoft YaHei"/>
              </a:rPr>
              <a:t>Path 2 的演化逻辑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11680"/>
            <a:ext cx="251460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22222"/>
                </a:solidFill>
                <a:latin typeface="Microsoft YaHei"/>
              </a:defRPr>
            </a:pPr>
            <a:r>
              <a:t>Stereotactic apparatus</a:t>
            </a:r>
          </a:p>
          <a:p>
            <a:pPr>
              <a:spcAft>
                <a:spcPts val="500"/>
              </a:spcAft>
              <a:defRPr sz="1100">
                <a:solidFill>
                  <a:srgbClr val="222222"/>
                </a:solidFill>
                <a:latin typeface="Microsoft YaHei"/>
              </a:defRPr>
            </a:pPr>
            <a:r>
              <a:t>CT-assisted robotic system</a:t>
            </a:r>
          </a:p>
          <a:p>
            <a:pPr>
              <a:spcAft>
                <a:spcPts val="500"/>
              </a:spcAft>
              <a:defRPr sz="1100">
                <a:solidFill>
                  <a:srgbClr val="222222"/>
                </a:solidFill>
                <a:latin typeface="Microsoft YaHei"/>
              </a:defRPr>
            </a:pPr>
            <a:r>
              <a:t>Image-directed surgery</a:t>
            </a:r>
          </a:p>
          <a:p>
            <a:pPr>
              <a:spcAft>
                <a:spcPts val="500"/>
              </a:spcAft>
              <a:defRPr sz="1100">
                <a:solidFill>
                  <a:srgbClr val="222222"/>
                </a:solidFill>
                <a:latin typeface="Microsoft YaHei"/>
              </a:defRPr>
            </a:pPr>
            <a:r>
              <a:t>3D / volumetric model</a:t>
            </a:r>
          </a:p>
          <a:p>
            <a:pPr>
              <a:spcAft>
                <a:spcPts val="500"/>
              </a:spcAft>
              <a:defRPr sz="1100">
                <a:solidFill>
                  <a:srgbClr val="222222"/>
                </a:solidFill>
                <a:latin typeface="Microsoft YaHei"/>
              </a:defRPr>
            </a:pPr>
            <a:r>
              <a:t>Real-time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83480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D89A2B"/>
                </a:solidFill>
                <a:latin typeface="Microsoft YaHei"/>
              </a:rPr>
              <a:t>这是“技术融合”最直观的证据页。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926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结论：claim-level 视角让技术演化更可解释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95097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Microsoft YaHei"/>
              </a:rPr>
              <a:t>最后用三列收束，不再塞长段落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65176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TI：claim-based inheritance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TEP：technical element persistence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Main path：技术细节路径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Origin analysis：融合来源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240280"/>
            <a:ext cx="265176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未来热点：数字终端 / 内窥镜 / 微创机器人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四条路线：切割、扫描、头部、骨科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融合主线：定位 + 影像 + 导航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65176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未考虑 claim 结构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citation 有时间滞后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cosine similarity 偏浅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可用更强 NLP 改进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课堂一句话：这篇论文把“专利引用网络”推进到“claim 级技术继承解释”。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