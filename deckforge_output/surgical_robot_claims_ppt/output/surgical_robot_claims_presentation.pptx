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94360"/>
            <a:ext cx="10927080" cy="5623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41732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D89A2B"/>
                </a:solidFill>
                <a:latin typeface="Microsoft YaHei"/>
              </a:rPr>
              <a:t>论文课堂汇报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F4E79"/>
                </a:solidFill>
                <a:latin typeface="Microsoft YaHei"/>
              </a:rPr>
              <a:t>专利权利要求 + 引文：</a:t>
            </a:r>
            <a:br/>
            <a:r>
              <a:t>技术起源与演化分析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337560"/>
            <a:ext cx="9326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Microsoft YaHei"/>
              </a:rPr>
              <a:t>Technological origination and evolution analysis by combining patent claims and citations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800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Microsoft YaHei"/>
              </a:rPr>
              <a:t>Qiu &amp; Wang · Advanced Engineering Informatics · 2023 · Surgical robot domain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汇报路线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8–10 分钟：先讲问题，再讲方法，最后看 surgical robot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54533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27048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Microsoft YaHei"/>
              </a:rPr>
              <a:t>研究问题：专利趋势分析为什么要看“技术起源”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67128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9514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76856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Microsoft YaHei"/>
              </a:rPr>
              <a:t>核心想法：把 claim 当技术元素，再结合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16936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044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026664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Microsoft YaHei"/>
              </a:rPr>
              <a:t>方法链路：TI → TEP → Main Path → Origin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66744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5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776472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Microsoft YaHei"/>
              </a:rPr>
              <a:t>案例结果：3313 件 surgical robot 美国授权专利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16552"/>
            <a:ext cx="10241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54456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26280"/>
            <a:ext cx="8961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2222"/>
                </a:solidFill>
                <a:latin typeface="Microsoft YaHei"/>
              </a:rPr>
              <a:t>贡献、局限与可改进方向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研究动机：不只看趋势，还要追问“从哪来”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传统 patent trend analysis 多看发展过程，较少挖技术 origin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已有方法关注什么？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统计分析 / time-series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文本挖掘：keyword、SAO、LDA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引文网络：citation path、main path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问题：多停在“发展轨迹”，缺少技术细节层面的来源解释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本文想补什么？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claim = 技术元素 / 创新点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citation = 技术继承关系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claim similarity = 引文强度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最终揭示技术融合与演化过程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整体框架：claims + citations 的四段流水线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把专利文本的细节和引文网络的方向性接起来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176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Microsoft YaHei"/>
              </a:rPr>
              <a:t>1  Patent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Microsoft YaHei"/>
              </a:rPr>
              <a:t>收集 Title / Abstract / Claims / Citations / Issue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2" y="24505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4" y="2176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Microsoft YaHei"/>
              </a:rPr>
              <a:t>2  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6060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Microsoft YaHei"/>
              </a:rPr>
              <a:t>claim 相似度，得到技术继承强度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8344" y="24505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21224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5816" y="2176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Microsoft YaHei"/>
              </a:rPr>
              <a:t>3  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6060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Microsoft YaHei"/>
              </a:rPr>
              <a:t>按时间窗找重要 technical elements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24505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88936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2176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Microsoft YaHei"/>
              </a:rPr>
              <a:t>4  Main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5" y="26060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Microsoft YaHei"/>
              </a:rPr>
              <a:t>构造技术发展主路径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7" y="245059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D89A2B"/>
                </a:solidFill>
                <a:latin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6648" y="201168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17627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4E79"/>
                </a:solidFill>
                <a:latin typeface="Microsoft YaHei"/>
              </a:rPr>
              <a:t>5  Origin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60604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Microsoft YaHei"/>
              </a:rPr>
              <a:t>沿主路径追踪技术融合与来源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icrosoft YaHei"/>
              </a:rPr>
              <a:t>一句话：用 claim 解决“技术细节”，用 citation 解决“继承方向”。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关键指标 1：Technological Inheritance (TI)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衡量“被引专利 j 对引用专利 i 的技术继承强度”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27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计算逻辑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把每条 claim 预处理成技术词集合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将 claim 编码为 0–1 term vector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对 citing patent 的每条 claim，找 cited patent 中最相似 claim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Microsoft YaHei"/>
              </a:defRPr>
            </a:pPr>
            <a:r>
              <a:t>平均最大 cosine similarity，得到 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074920" cy="448056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公式直觉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Microsoft YaHei"/>
              </a:rPr>
              <a:t>MCSV = max cosine(claim_i_m, claim_j_k)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63240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72A"/>
                </a:solidFill>
                <a:latin typeface="Microsoft YaHei"/>
              </a:rPr>
              <a:t>TI(i,j) = average_m MCSV(i,j,m)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0690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Microsoft YaHei"/>
              </a:rPr>
              <a:t>TI 不是简单“有没有引用”，而是问：引用关系里，到底继承了多少 claim-level 技术内容。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关键指标 2：TEP 与 Main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从技术元素重要性走向演化路径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Technical Element Persistence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在时间区间内评估 claim 的持续影响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用于筛选 important claims / patents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RNIT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14884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Relationship Network of Important Technologies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按时间窗选 top-Q TEP patents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再用 citation 连接重要技术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2461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4E79"/>
                </a:solidFill>
                <a:latin typeface="Microsoft YaHei"/>
              </a:rPr>
              <a:t>Main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2514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从 RNIT 中筛主路径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要求路径长度与重要节点数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最终展示技术演化轨迹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案例数据：Surgical robot domain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USPTO 授权专利，Patsnap 检索，截止 2020-05-26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Microsoft YaHei"/>
              </a:rPr>
              <a:t>3313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patents</a:t>
            </a:r>
            <a:br/>
            <a:r>
              <a:t>美国授权 surgical robot 专利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087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Microsoft YaHei"/>
              </a:rPr>
              <a:t>13,097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212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citations</a:t>
            </a:r>
            <a:br/>
            <a:r>
              <a:t>领域内部 citation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5087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Microsoft YaHei"/>
              </a:rPr>
              <a:t>7.906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212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avg degree</a:t>
            </a:r>
            <a:br/>
            <a:r>
              <a:t>平均引用连接度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5087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7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Microsoft YaHei"/>
              </a:rPr>
              <a:t>0.122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2212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median TI</a:t>
            </a:r>
            <a:br/>
            <a:r>
              <a:t>TI 中位数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59" y="1508760"/>
            <a:ext cx="20574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7" y="17556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1F4E79"/>
                </a:solidFill>
                <a:latin typeface="Microsoft YaHei"/>
              </a:rPr>
              <a:t>0.077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7" y="22128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avg TI</a:t>
            </a:r>
            <a:br/>
            <a:r>
              <a:t>TI 平均值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703320"/>
            <a:ext cx="10149840" cy="141732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3977639"/>
            <a:ext cx="9509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解释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4622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Microsoft YaHei"/>
              </a:rPr>
              <a:t>内部引用不算特别密集；TI 长尾分布说明：只有少数引用关系体现较强技术继承，多数 citation 的 claim-level 继承较弱。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结果 1：重要技术元素在时间窗中迁移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2011–2015 与 2016–2020 的 top claims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2011–2015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434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Robotic arm motion control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X-ray / CT imaging for surgery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Endoscope control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Bone positioning / alteration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System display and operator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64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4E79"/>
                </a:solidFill>
                <a:latin typeface="Microsoft YaHei"/>
              </a:rPr>
              <a:t>2016–2020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434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Surgical operation systems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Surgical microprocessors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Endoscope insertion across skin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Minimally invasive technologies</a:t>
            </a:r>
          </a:p>
          <a:p>
            <a:pPr>
              <a:spcAft>
                <a:spcPts val="600"/>
              </a:spcAft>
              <a:defRPr sz="1300">
                <a:solidFill>
                  <a:srgbClr val="222222"/>
                </a:solidFill>
                <a:latin typeface="Microsoft YaHei"/>
              </a:defRPr>
            </a:pPr>
            <a:r>
              <a:t>Robotic arm motion control remains 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97880"/>
            <a:ext cx="10424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89A2B"/>
                </a:solidFill>
                <a:latin typeface="Microsoft YaHei"/>
              </a:rPr>
              <a:t>Takeaway：热点从机械/影像控制，逐步扩展到系统化、微处理器与微创操作。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结果 2：四条 surgical robot 技术主路径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主路径把复杂 citation network 压缩成可讲的演化路线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325880"/>
            <a:ext cx="10469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270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Path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5270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定位与切割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49047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Microsoft YaHei"/>
              </a:rPr>
              <a:t>Laser surgical knife → Robot-aided surgery → Surgical robotic tools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313432"/>
            <a:ext cx="10469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514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Path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514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X-ray /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7802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Microsoft YaHei"/>
              </a:rPr>
              <a:t>Stereotactic apparatus → CT-assisted robotic system → real-time navigational guidance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00984"/>
            <a:ext cx="10469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021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Path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5021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眼科 / 头部手术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6557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Microsoft YaHei"/>
              </a:rPr>
              <a:t>Fluid control → ophthalmic suction → probe position + head imaging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288536"/>
            <a:ext cx="10469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970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D89A2B"/>
                </a:solidFill>
                <a:latin typeface="Microsoft YaHei"/>
              </a:rPr>
              <a:t>Path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489704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  <a:latin typeface="Microsoft YaHei"/>
              </a:rPr>
              <a:t>骨科定位操作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5312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Microsoft YaHei"/>
              </a:rPr>
              <a:t>Bone alteration → image-directed robotic surgery → navigation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Microsoft YaHei"/>
              </a:rPr>
              <a:t>结论：claim-level 视角让“技术融合”可解释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41248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Microsoft YaHei"/>
              </a:rPr>
              <a:t>贡献、发现与局限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19088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27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理论贡献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TI：claim-based inheritance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TEP：technical element persistence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Main path：基于技术细节的演化路径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Origin analysis：解释融合来源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27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案例发现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1031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未来热点：数字终端、内窥镜、微创机器人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四条主路径：切割、扫描、头部、骨科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融合主线：定位 + 影像 + 导航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2763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Microsoft YaHei"/>
              </a:rPr>
              <a:t>局限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1031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未考虑 claim 结构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citation 有时间滞后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cosine similarity 偏浅，可换更强 NLP</a:t>
            </a:r>
          </a:p>
          <a:p>
            <a:pPr>
              <a:spcAft>
                <a:spcPts val="600"/>
              </a:spcAft>
              <a:defRPr sz="1200">
                <a:solidFill>
                  <a:srgbClr val="222222"/>
                </a:solidFill>
                <a:latin typeface="Microsoft YaHei"/>
              </a:defRPr>
            </a:pPr>
            <a:r>
              <a:t>数据集还可扩展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