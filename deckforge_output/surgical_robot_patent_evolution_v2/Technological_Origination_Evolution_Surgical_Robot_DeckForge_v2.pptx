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75120" y="1234440"/>
            <a:ext cx="594360" cy="347472"/>
          </a:xfrm>
          <a:prstGeom prst="roundRect">
            <a:avLst/>
          </a:prstGeom>
          <a:solidFill>
            <a:srgbClr val="EC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20840" y="1335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92440" y="1234440"/>
            <a:ext cx="594360" cy="3474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38160" y="1335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234440"/>
            <a:ext cx="594360" cy="347472"/>
          </a:xfrm>
          <a:prstGeom prst="roundRect">
            <a:avLst/>
          </a:prstGeom>
          <a:solidFill>
            <a:srgbClr val="EC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55480" y="1335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377440"/>
            <a:ext cx="594360" cy="3474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478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377440"/>
            <a:ext cx="594360" cy="347472"/>
          </a:xfrm>
          <a:prstGeom prst="roundRect">
            <a:avLst/>
          </a:prstGeom>
          <a:solidFill>
            <a:srgbClr val="EC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478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377440"/>
            <a:ext cx="594360" cy="3474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2478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520440"/>
            <a:ext cx="594360" cy="347472"/>
          </a:xfrm>
          <a:prstGeom prst="roundRect">
            <a:avLst/>
          </a:prstGeom>
          <a:solidFill>
            <a:srgbClr val="EC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621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520440"/>
            <a:ext cx="594360" cy="3474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621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3520440"/>
            <a:ext cx="594360" cy="34747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3621024"/>
            <a:ext cx="50292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P9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69480" y="1408176"/>
            <a:ext cx="822960" cy="0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686800" y="1408176"/>
            <a:ext cx="822960" cy="0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15200" y="1600200"/>
            <a:ext cx="731520" cy="941832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0" y="1600200"/>
            <a:ext cx="822960" cy="941832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269480" y="2560320"/>
            <a:ext cx="822960" cy="1097280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86800" y="2560320"/>
            <a:ext cx="822960" cy="1097280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15200" y="3675887"/>
            <a:ext cx="2194560" cy="0"/>
          </a:xfrm>
          <a:prstGeom prst="line">
            <a:avLst/>
          </a:prstGeom>
          <a:ln w="13970">
            <a:solidFill>
              <a:srgbClr val="4F6C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1005840"/>
            <a:ext cx="62179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基于 Patent Claims 与 Citations 的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技术起源与演化分析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2468880"/>
            <a:ext cx="5989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BB7E0"/>
                </a:solidFill>
                <a:latin typeface="Microsoft YaHei"/>
              </a:rPr>
              <a:t>以手术机器人领域为例｜Advanced Engineering Informatics 58 (2023) 102145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886200"/>
            <a:ext cx="24688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64008" cy="11430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005072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汇报定位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4325112"/>
            <a:ext cx="219456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15 分钟课堂汇报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重点讲清：问题、方法、案例发现、评价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3886200"/>
            <a:ext cx="26974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3886200"/>
            <a:ext cx="64008" cy="11430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4005072"/>
            <a:ext cx="2423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论文核心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02152" y="4325112"/>
            <a:ext cx="242316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Claims = technical elements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Citations = inheritance links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257800"/>
            <a:ext cx="53949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257800"/>
            <a:ext cx="64008" cy="749808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1" y="5376672"/>
            <a:ext cx="5120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方法关键词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1" y="5696712"/>
            <a:ext cx="5120640" cy="2377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TI · TEP · RNIT · Main Paths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Origin &amp; Development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46520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B4CCE1"/>
                </a:solidFill>
                <a:latin typeface="Microsoft YaHei"/>
              </a:rPr>
              <a:t>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Deck Brief：15 分钟讲什么？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目标：让听众记住“技术起源分析”比普通趋势分析更细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02/15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70332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64008" cy="9144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70431"/>
            <a:ext cx="3429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一句话主旨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42900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这篇论文把专利分析从“专利引用网络”推进到“权利要求技术元素网络”。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051560"/>
            <a:ext cx="32461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051560"/>
            <a:ext cx="64008" cy="16002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170431"/>
            <a:ext cx="2971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课堂听众需要带走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490472"/>
            <a:ext cx="2971800" cy="10881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1. Claims 为什么适合当技术元素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2. TI/TEP 如何工作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3. 手术机器人领域发现了什么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4. 方法有什么短板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051560"/>
            <a:ext cx="3474720" cy="1600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051560"/>
            <a:ext cx="64008" cy="160020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2" y="1170431"/>
            <a:ext cx="3200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15 页节奏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5592" y="1490472"/>
            <a:ext cx="3200400" cy="10881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背景动机 3 页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方法框架 6 页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案例发现 4 页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评价总结 2 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86200"/>
            <a:ext cx="1051560" cy="420624"/>
          </a:xfrm>
          <a:prstGeom prst="roundRect">
            <a:avLst/>
          </a:prstGeom>
          <a:solidFill>
            <a:srgbClr val="F0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86784"/>
            <a:ext cx="96011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A1424"/>
                </a:solidFill>
                <a:latin typeface="Microsoft YaHei"/>
              </a:rPr>
              <a:t>Why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965960" y="4096512"/>
            <a:ext cx="1691640" cy="0"/>
          </a:xfrm>
          <a:prstGeom prst="line">
            <a:avLst/>
          </a:prstGeom>
          <a:ln w="1524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657600" y="3886200"/>
            <a:ext cx="1051560" cy="420624"/>
          </a:xfrm>
          <a:prstGeom prst="roundRect">
            <a:avLst/>
          </a:prstGeom>
          <a:solidFill>
            <a:srgbClr val="F0F8FC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03320" y="3986784"/>
            <a:ext cx="96011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A1424"/>
                </a:solidFill>
                <a:latin typeface="Microsoft YaHei"/>
              </a:rPr>
              <a:t>How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09160" y="4096512"/>
            <a:ext cx="1691640" cy="0"/>
          </a:xfrm>
          <a:prstGeom prst="line">
            <a:avLst/>
          </a:prstGeom>
          <a:ln w="15240">
            <a:solidFill>
              <a:srgbClr val="F1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0" y="3886200"/>
            <a:ext cx="1051560" cy="420624"/>
          </a:xfrm>
          <a:prstGeom prst="roundRect">
            <a:avLst/>
          </a:prstGeom>
          <a:solidFill>
            <a:srgbClr val="F0F8FC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986784"/>
            <a:ext cx="96011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A1424"/>
                </a:solidFill>
                <a:latin typeface="Microsoft YaHei"/>
              </a:rPr>
              <a:t>Case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52360" y="4096512"/>
            <a:ext cx="1691640" cy="0"/>
          </a:xfrm>
          <a:prstGeom prst="line">
            <a:avLst/>
          </a:prstGeom>
          <a:ln w="15240">
            <a:solidFill>
              <a:srgbClr val="2BA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3886200"/>
            <a:ext cx="1051560" cy="420624"/>
          </a:xfrm>
          <a:prstGeom prst="roundRect">
            <a:avLst/>
          </a:prstGeom>
          <a:solidFill>
            <a:srgbClr val="F0F8FC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3986784"/>
            <a:ext cx="96011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A1424"/>
                </a:solidFill>
                <a:latin typeface="Microsoft YaHei"/>
              </a:rPr>
              <a:t>So what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572000"/>
            <a:ext cx="2240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C6C80"/>
                </a:solidFill>
                <a:latin typeface="Microsoft YaHei"/>
              </a:rPr>
              <a:t>页 2–4：研究缺口和框架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572000"/>
            <a:ext cx="24688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C6C80"/>
                </a:solidFill>
                <a:latin typeface="Microsoft YaHei"/>
              </a:rPr>
              <a:t>页 5–10：核心指标和路径构建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4572000"/>
            <a:ext cx="2240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C6C80"/>
                </a:solidFill>
                <a:latin typeface="Microsoft YaHei"/>
              </a:rPr>
              <a:t>页 11–13：手术机器人案例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97112" y="4572000"/>
            <a:ext cx="2240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000" b="0">
                <a:solidFill>
                  <a:srgbClr val="5C6C80"/>
                </a:solidFill>
                <a:latin typeface="Microsoft YaHei"/>
              </a:rPr>
              <a:t>页 14–15：评价与结论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840" y="5349240"/>
            <a:ext cx="10149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5840" y="5349240"/>
            <a:ext cx="64008" cy="658368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70432" y="5468112"/>
            <a:ext cx="987551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Takeaway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432" y="5788152"/>
            <a:ext cx="9875519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不要把这篇论文讲成“公式合集”；它真正的贡献是让主路径分析能解释技术从哪里来。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研究缺口：趋势分析很多，起源分析不足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已有方法能看“怎么发展”，但难解释“从哪里来”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03/15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97280"/>
            <a:ext cx="29260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97280"/>
            <a:ext cx="64008" cy="1828800"/>
          </a:xfrm>
          <a:prstGeom prst="rect">
            <a:avLst/>
          </a:prstGeom>
          <a:solidFill>
            <a:srgbClr val="2D6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216152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Common Trend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36192"/>
            <a:ext cx="2651760" cy="1316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统计分析、时间序列、机器学习、Delphi。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优势：宏观趋势清楚。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短板：技术细节弱。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1097280"/>
            <a:ext cx="29260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03320" y="1097280"/>
            <a:ext cx="64008" cy="18288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67911" y="1216152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Patent Text Mining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7911" y="1536192"/>
            <a:ext cx="2651760" cy="1316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关键词、LDA、SAO、聚类、文本网络。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优势：能发现技术热点。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短板：继承关系弱。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097280"/>
            <a:ext cx="292608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12280" y="1097280"/>
            <a:ext cx="64008" cy="18288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1216152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Citation Main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1536192"/>
            <a:ext cx="2651760" cy="1316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引用网络、主路径、知识流动。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优势：演化路径明确。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短板：不知道引用了什么。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21240" y="1097280"/>
            <a:ext cx="1691640" cy="1828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21240" y="1097280"/>
            <a:ext cx="64008" cy="182880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1216152"/>
            <a:ext cx="1417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A1424"/>
                </a:solidFill>
                <a:latin typeface="Microsoft YaHei"/>
              </a:rPr>
              <a:t>本文补位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1536192"/>
            <a:ext cx="1417320" cy="13167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19" b="0">
                <a:solidFill>
                  <a:srgbClr val="1D2838"/>
                </a:solidFill>
                <a:latin typeface="Microsoft YaHei"/>
              </a:rPr>
              <a:t>用 claims 捕捉技术元素，</a:t>
            </a:r>
          </a:p>
          <a:p>
            <a:pPr>
              <a:spcAft>
                <a:spcPts val="200"/>
              </a:spcAft>
            </a:pPr>
            <a:r>
              <a:rPr sz="919" b="0">
                <a:solidFill>
                  <a:srgbClr val="1D2838"/>
                </a:solidFill>
                <a:latin typeface="Microsoft YaHei"/>
              </a:rPr>
              <a:t>用 citations 约束继承关系，</a:t>
            </a:r>
          </a:p>
          <a:p>
            <a:pPr>
              <a:spcAft>
                <a:spcPts val="200"/>
              </a:spcAft>
            </a:pPr>
            <a:r>
              <a:rPr sz="919" b="0">
                <a:solidFill>
                  <a:srgbClr val="1D2838"/>
                </a:solidFill>
                <a:latin typeface="Microsoft YaHei"/>
              </a:rPr>
              <a:t>再追踪主路径上的技术融合。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70332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普通趋势分析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43200" y="3840480"/>
            <a:ext cx="1371600" cy="0"/>
          </a:xfrm>
          <a:prstGeom prst="line">
            <a:avLst/>
          </a:prstGeom>
          <a:ln w="1397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251960" y="3703320"/>
            <a:ext cx="18288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专利引用路径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840480"/>
            <a:ext cx="1371600" cy="0"/>
          </a:xfrm>
          <a:prstGeom prst="line">
            <a:avLst/>
          </a:prstGeom>
          <a:ln w="1397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589520" y="3703320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Claim-level 起源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92040"/>
            <a:ext cx="10012680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92040"/>
            <a:ext cx="64008" cy="822960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1872" y="5010912"/>
            <a:ext cx="973835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研究问题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5330952"/>
            <a:ext cx="973835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20" b="0">
                <a:solidFill>
                  <a:srgbClr val="1D2838"/>
                </a:solidFill>
                <a:latin typeface="Microsoft YaHei"/>
              </a:rPr>
              <a:t>如何结合 patent claims 和 citations，揭示一个技术领域的 technological origination、technology fusion 和 evolution process？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总体框架：Claims + Citations 的五段流水线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对应论文 Fig. 1，重画为课堂版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04/15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3898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0744"/>
            <a:ext cx="12984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1 Patent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389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Patsnap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USPTO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280160"/>
            <a:ext cx="13898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1380744"/>
            <a:ext cx="12984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2 Claims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011680"/>
            <a:ext cx="1389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0-1 technical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term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280160"/>
            <a:ext cx="13898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80744"/>
            <a:ext cx="12984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3 TI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Inheritance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1389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claim similarity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on citation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280160"/>
            <a:ext cx="13898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380744"/>
            <a:ext cx="12984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4 TEP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Importance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011680"/>
            <a:ext cx="1389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persistence in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time interval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280160"/>
            <a:ext cx="1389888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380744"/>
            <a:ext cx="12984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5 Main Paths</a:t>
            </a:r>
          </a:p>
          <a:p>
            <a:pPr algn="ctr">
              <a:spcAft>
                <a:spcPts val="200"/>
              </a:spcAft>
            </a:pPr>
            <a:r>
              <a:rPr sz="950" b="1">
                <a:solidFill>
                  <a:srgbClr val="0A1424"/>
                </a:solidFill>
                <a:latin typeface="Microsoft YaHei"/>
              </a:rPr>
              <a:t>&amp; Origins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011680"/>
            <a:ext cx="138988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RNIT + origin</a:t>
            </a:r>
          </a:p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development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892808" y="1609344"/>
            <a:ext cx="530352" cy="0"/>
          </a:xfrm>
          <a:prstGeom prst="line">
            <a:avLst/>
          </a:prstGeom>
          <a:ln w="15875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13048" y="1609344"/>
            <a:ext cx="530352" cy="0"/>
          </a:xfrm>
          <a:prstGeom prst="line">
            <a:avLst/>
          </a:prstGeom>
          <a:ln w="15875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733288" y="1609344"/>
            <a:ext cx="530352" cy="0"/>
          </a:xfrm>
          <a:prstGeom prst="line">
            <a:avLst/>
          </a:prstGeom>
          <a:ln w="15875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653527" y="1609344"/>
            <a:ext cx="530352" cy="0"/>
          </a:xfrm>
          <a:prstGeom prst="line">
            <a:avLst/>
          </a:prstGeom>
          <a:ln w="15875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297180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2971800"/>
            <a:ext cx="64008" cy="100584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090672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输入层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3410712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3313 件手术机器人 USPTO 授权专利；字段包括 title、abstract、claims、citations、issue date。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297180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2971800"/>
            <a:ext cx="64008" cy="100584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53712" y="3090672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计算层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410712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把每个 claim 变成技术词向量；在引用关系上计算 claim-to-claim similarity。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297180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2440" y="2971800"/>
            <a:ext cx="64008" cy="100584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3090672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解释层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3410712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用 TEP 找重要技术元素，用 RNIT 与 main paths 展示演化，再追踪 claim-level origin。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34440" y="4846320"/>
            <a:ext cx="96469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34440" y="4846320"/>
            <a:ext cx="64008" cy="713232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99032" y="4965192"/>
            <a:ext cx="9372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方法定位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99032" y="5285231"/>
            <a:ext cx="9372600" cy="2011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20" b="0">
                <a:solidFill>
                  <a:srgbClr val="1D2838"/>
                </a:solidFill>
                <a:latin typeface="Microsoft YaHei"/>
              </a:rPr>
              <a:t>不是“更复杂的引用网络”，而是在引用网络里嵌入技术细节。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Claims 如何变成 technical elements？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每个 claim 被当作一个可追踪的微观技术元素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05/15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3383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64008" cy="100584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24712"/>
            <a:ext cx="3108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为什么选 claims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444752"/>
            <a:ext cx="31089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Claims 是专利保护范围，最接近“创新点”；比 abstract 更细，比 description 更聚焦。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40280"/>
            <a:ext cx="338328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64008" cy="100584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359152"/>
            <a:ext cx="3108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预处理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679192"/>
            <a:ext cx="310896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去除 the / wherein / mean 等低信息词；提取技术词，构建 Dict。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338328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74720"/>
            <a:ext cx="64008" cy="114300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593591"/>
            <a:ext cx="3108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矩阵化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913631"/>
            <a:ext cx="310896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每个 claim 转成 0-1 向量：词出现为 1，不出现为 0；同词多次出现只算一次。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914400"/>
            <a:ext cx="539496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Claim × Technical Terms Matrix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robot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arm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bone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06840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5208" y="1143000"/>
            <a:ext cx="56692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5C6C80"/>
                </a:solidFill>
                <a:latin typeface="Microsoft YaHei"/>
              </a:rPr>
              <a:t>endoscope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645920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1618488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3368" y="1618488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31736" y="1618488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31736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90104" y="1618488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0104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48471" y="1618488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1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1618488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65208" y="1618488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65208" y="1655064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2176272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15000" y="2148840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15000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2148840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031736" y="2148840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31736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90104" y="2148840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90104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48471" y="2148840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48471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2148840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65208" y="2148840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65208" y="2185416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2706624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715000" y="2679191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15000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73368" y="2679191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8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31736" y="2679191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031736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90104" y="2679191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90104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348471" y="2679191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48471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006840" y="2679191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40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665208" y="2679191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65208" y="2715768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0" y="3236976"/>
            <a:ext cx="9144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715000" y="3209544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15000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73368" y="3209544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73368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31736" y="3209544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031736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90104" y="3209544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90104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348471" y="3209544"/>
            <a:ext cx="347472" cy="256032"/>
          </a:xfrm>
          <a:prstGeom prst="rect">
            <a:avLst/>
          </a:prstGeom>
          <a:solidFill>
            <a:srgbClr val="1BB7E0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348471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06840" y="3209544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06840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665208" y="3209544"/>
            <a:ext cx="347472" cy="256032"/>
          </a:xfrm>
          <a:prstGeom prst="rect">
            <a:avLst/>
          </a:prstGeom>
          <a:solidFill>
            <a:srgbClr val="EBF1F7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665208" y="3246120"/>
            <a:ext cx="347472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5C6C80"/>
                </a:solidFill>
                <a:latin typeface="Microsoft YaHei"/>
              </a:rPr>
              <a:t>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17720" y="4892040"/>
            <a:ext cx="617220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617720" y="4892040"/>
            <a:ext cx="64008" cy="749808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782312" y="5010912"/>
            <a:ext cx="5897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课堂讲法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82312" y="5330952"/>
            <a:ext cx="5897880" cy="23774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这一步不用讲成 NLP 细节；告诉听众：作者把 claim 变成“技术词是否出现”的向量，然后比较相似度。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TI：引用关系中的技术继承强度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用平均最大 claim 相似度判断“引用到底继承了多少”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06/15</a:t>
            </a:r>
          </a:p>
        </p:txBody>
      </p:sp>
      <p:pic>
        <p:nvPicPr>
          <p:cNvPr id="7" name="Picture 6" descr="formula_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85216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20840" y="1005840"/>
            <a:ext cx="48006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005840"/>
            <a:ext cx="64008" cy="141732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1" y="112471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读公式的方法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5431" y="1444752"/>
            <a:ext cx="4526280" cy="9052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1. 对引用专利 i 的每个 claim。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2. 在被引专利 j 的 claims 里找最像的一个。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3. 把这些最大相似值平均，得到 TI(i,j)。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651760"/>
            <a:ext cx="480060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651760"/>
            <a:ext cx="64008" cy="9144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85431" y="277063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为什么重要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5431" y="3090672"/>
            <a:ext cx="452628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普通 citation 只知道“谁引用谁”；TI 进一步回答“具体继承强不强”。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3794760"/>
            <a:ext cx="4800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3794760"/>
            <a:ext cx="64008" cy="86868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1" y="391363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论文处理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1" y="4233672"/>
            <a:ext cx="4526280" cy="3566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TI &gt; 0.7 的引用被剔除，因为可能是同一技术连续更新，novelty 较少。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434840"/>
            <a:ext cx="45720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535424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j1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818888"/>
            <a:ext cx="45720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19472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j2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5202936"/>
            <a:ext cx="45720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303520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j3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4434840"/>
            <a:ext cx="457200" cy="25603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3239" y="4535424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i1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17520" y="4818888"/>
            <a:ext cx="457200" cy="25603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63239" y="4919472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i2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5202936"/>
            <a:ext cx="457200" cy="256032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39" y="5303520"/>
            <a:ext cx="365760" cy="1463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0A1424"/>
                </a:solidFill>
                <a:latin typeface="Microsoft YaHei"/>
              </a:rPr>
              <a:t>i3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417320" y="4562856"/>
            <a:ext cx="1600200" cy="365760"/>
          </a:xfrm>
          <a:prstGeom prst="line">
            <a:avLst/>
          </a:prstGeom>
          <a:ln w="1524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17320" y="4562856"/>
            <a:ext cx="1600200" cy="384048"/>
          </a:xfrm>
          <a:prstGeom prst="line">
            <a:avLst/>
          </a:prstGeom>
          <a:ln w="12700">
            <a:solidFill>
              <a:srgbClr val="84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417320" y="5321808"/>
            <a:ext cx="1600200" cy="0"/>
          </a:xfrm>
          <a:prstGeom prst="line">
            <a:avLst/>
          </a:prstGeom>
          <a:ln w="12700">
            <a:solidFill>
              <a:srgbClr val="2BA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25880" y="5623560"/>
            <a:ext cx="23774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0">
                <a:solidFill>
                  <a:srgbClr val="5C6C80"/>
                </a:solidFill>
                <a:latin typeface="Microsoft YaHei"/>
              </a:rPr>
              <a:t>claim-to-claim max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Main Technical Origin：每个 claim 的来源从哪里来？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MSCI 找到一个 claim 在所有被引专利中的主技术起源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07/15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64008" cy="100584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70431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一个专利通常引用多个专利；某个 claim 的真正来源可能藏在其中某一个被引专利里。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33172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331720"/>
            <a:ext cx="64008" cy="100584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450591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770632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对 claim i_m 遍历所有 cited patents，取全局最大 MCSV，对应 claim 即 MSCI。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11880"/>
            <a:ext cx="64008" cy="1005840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30752"/>
            <a:ext cx="3154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价值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050791"/>
            <a:ext cx="315468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研发人员可以看到新技术由哪些旧技术元素组合而成，也能找到可替代技术来源。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743200"/>
            <a:ext cx="1371600" cy="566928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2843784"/>
            <a:ext cx="128016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Claim i_m</a:t>
            </a:r>
          </a:p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new element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1234440"/>
            <a:ext cx="12344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1335024"/>
            <a:ext cx="1143000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Patent A</a:t>
            </a:r>
          </a:p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a2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217920" y="1499616"/>
            <a:ext cx="2377440" cy="1527048"/>
          </a:xfrm>
          <a:prstGeom prst="line">
            <a:avLst/>
          </a:prstGeom>
          <a:ln w="12700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83480" y="2148840"/>
            <a:ext cx="12344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0" y="2249424"/>
            <a:ext cx="1143000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Patent B</a:t>
            </a:r>
          </a:p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b1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217920" y="2414016"/>
            <a:ext cx="2377440" cy="612648"/>
          </a:xfrm>
          <a:prstGeom prst="line">
            <a:avLst/>
          </a:prstGeom>
          <a:ln w="14986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983480" y="3703320"/>
            <a:ext cx="12344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3803904"/>
            <a:ext cx="1143000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Patent C</a:t>
            </a:r>
          </a:p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c4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217920" y="3026664"/>
            <a:ext cx="2377440" cy="941832"/>
          </a:xfrm>
          <a:prstGeom prst="line">
            <a:avLst/>
          </a:prstGeom>
          <a:ln w="17272">
            <a:solidFill>
              <a:srgbClr val="8457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983480" y="4617720"/>
            <a:ext cx="123444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0" y="4718304"/>
            <a:ext cx="1143000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Patent D</a:t>
            </a:r>
          </a:p>
          <a:p>
            <a:pPr algn="ctr">
              <a:spcAft>
                <a:spcPts val="200"/>
              </a:spcAft>
            </a:pPr>
            <a:r>
              <a:rPr sz="850" b="1">
                <a:solidFill>
                  <a:srgbClr val="0A1424"/>
                </a:solidFill>
                <a:latin typeface="Microsoft YaHei"/>
              </a:rPr>
              <a:t>claim d3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6217920" y="3026664"/>
            <a:ext cx="2377440" cy="1856232"/>
          </a:xfrm>
          <a:prstGeom prst="line">
            <a:avLst/>
          </a:prstGeom>
          <a:ln w="19558">
            <a:solidFill>
              <a:srgbClr val="2BA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95160" y="2514600"/>
            <a:ext cx="12344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2569464"/>
            <a:ext cx="11064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18E2B"/>
                </a:solidFill>
                <a:latin typeface="Microsoft YaHei"/>
              </a:rPr>
              <a:t>max similarity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92040" y="5349240"/>
            <a:ext cx="612648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92040" y="5349240"/>
            <a:ext cx="64008" cy="64008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56631" y="5468112"/>
            <a:ext cx="5852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案例口径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6631" y="5788152"/>
            <a:ext cx="5852160" cy="1280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论文用 US5887121 展示：机器人关节控制 claim 可追溯到 US5297057 / US5377310 等早期技术。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TEP：哪个技术元素在某时期最重要？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一个 claim 被后续技术持续继承，TEP 就越高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08/15</a:t>
            </a:r>
          </a:p>
        </p:txBody>
      </p:sp>
      <p:pic>
        <p:nvPicPr>
          <p:cNvPr id="7" name="Picture 6" descr="formula_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806440" cy="2834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005840"/>
            <a:ext cx="4800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005840"/>
            <a:ext cx="64008" cy="96012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39712" y="112471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直观解释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444752"/>
            <a:ext cx="4526280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如果某个旧 claim 不断被后续专利直接或间接继承，它在该时间段内就是重要技术元素。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194560"/>
            <a:ext cx="4800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2194560"/>
            <a:ext cx="64008" cy="96012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231343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时间区间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633472"/>
            <a:ext cx="4526280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论文按 5 年划分时间段，如 2011–2015、2016–2020。每个区间单独计算重要元素。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383280"/>
            <a:ext cx="480060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75120" y="3383280"/>
            <a:ext cx="64008" cy="96012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39712" y="3502152"/>
            <a:ext cx="45262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贡献传播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3822191"/>
            <a:ext cx="4526280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直接引用贡献为 MCSV；间接引用沿路径传播，体现技术影响力随路径传递。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00600"/>
            <a:ext cx="8229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01184"/>
            <a:ext cx="731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old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claim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5029200"/>
            <a:ext cx="411480" cy="0"/>
          </a:xfrm>
          <a:prstGeom prst="line">
            <a:avLst/>
          </a:prstGeom>
          <a:ln w="13970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48840" y="4800600"/>
            <a:ext cx="8229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901184"/>
            <a:ext cx="731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middle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claim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71800" y="5029200"/>
            <a:ext cx="411480" cy="0"/>
          </a:xfrm>
          <a:prstGeom prst="line">
            <a:avLst/>
          </a:prstGeom>
          <a:ln w="1397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83280" y="4800600"/>
            <a:ext cx="8229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901184"/>
            <a:ext cx="731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later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claim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06240" y="5029200"/>
            <a:ext cx="411480" cy="0"/>
          </a:xfrm>
          <a:prstGeom prst="line">
            <a:avLst/>
          </a:prstGeom>
          <a:ln w="13970">
            <a:solidFill>
              <a:srgbClr val="F1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617720" y="4800600"/>
            <a:ext cx="82296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901184"/>
            <a:ext cx="73152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TEP</a:t>
            </a:r>
          </a:p>
          <a:p>
            <a:pPr algn="ctr">
              <a:spcAft>
                <a:spcPts val="200"/>
              </a:spcAft>
            </a:pPr>
            <a:r>
              <a:rPr sz="800" b="1">
                <a:solidFill>
                  <a:srgbClr val="0A1424"/>
                </a:solidFill>
                <a:latin typeface="Microsoft YaHei"/>
              </a:rPr>
              <a:t>alpha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532120"/>
            <a:ext cx="3291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5C6C80"/>
                </a:solidFill>
                <a:latin typeface="Microsoft YaHei"/>
              </a:rPr>
              <a:t>TICV 累计 + 间接传播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Main Paths：从重要技术元素到演化主路径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先选重要专利，再构建 RNIT，而不是全网乱画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09/15</a:t>
            </a:r>
          </a:p>
        </p:txBody>
      </p:sp>
      <p:pic>
        <p:nvPicPr>
          <p:cNvPr id="7" name="Picture 6" descr="formula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05840"/>
            <a:ext cx="5715000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37960" y="1005840"/>
            <a:ext cx="489204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005840"/>
            <a:ext cx="64008" cy="128016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124712"/>
            <a:ext cx="4617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实验参数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2552" y="1444752"/>
            <a:ext cx="4617720" cy="7680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Q = 15：每个 5 年区间选 TEP 前 15 专利。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a = 4：路径长度至少 4。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b = 3：路径中重要专利至少 3。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60320"/>
            <a:ext cx="48920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2560320"/>
            <a:ext cx="64008" cy="105156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679191"/>
            <a:ext cx="4617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RNIT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999232"/>
            <a:ext cx="4617720" cy="5394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Relationship Network of Important Technologies：重要技术关系网络，由重要专利和连接它们的引用路径组成。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3886200"/>
            <a:ext cx="4892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3886200"/>
            <a:ext cx="64008" cy="96012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4005072"/>
            <a:ext cx="4617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筛选原则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4325112"/>
            <a:ext cx="4617720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如果多条路径满足条件，比较路径上专利的 forward citation numbers，保留影响力更强的路径。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074920"/>
            <a:ext cx="457200" cy="274320"/>
          </a:xfrm>
          <a:prstGeom prst="roundRect">
            <a:avLst/>
          </a:prstGeom>
          <a:solidFill>
            <a:srgbClr val="F18E2B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175504"/>
            <a:ext cx="365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P1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4663440"/>
            <a:ext cx="457200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57400" y="4764024"/>
            <a:ext cx="365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P2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5074920"/>
            <a:ext cx="457200" cy="274320"/>
          </a:xfrm>
          <a:prstGeom prst="roundRect">
            <a:avLst/>
          </a:prstGeom>
          <a:solidFill>
            <a:srgbClr val="F18E2B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79" y="5175504"/>
            <a:ext cx="365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P3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4663440"/>
            <a:ext cx="457200" cy="274320"/>
          </a:xfrm>
          <a:prstGeom prst="roundRect">
            <a:avLst/>
          </a:prstGeom>
          <a:solidFill>
            <a:srgbClr val="F18E2B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4764024"/>
            <a:ext cx="365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P4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5074920"/>
            <a:ext cx="457200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5175504"/>
            <a:ext cx="3657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P5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371600" y="4800600"/>
            <a:ext cx="640080" cy="411480"/>
          </a:xfrm>
          <a:prstGeom prst="line">
            <a:avLst/>
          </a:prstGeom>
          <a:ln w="1270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468880" y="4800600"/>
            <a:ext cx="640080" cy="411480"/>
          </a:xfrm>
          <a:prstGeom prst="line">
            <a:avLst/>
          </a:prstGeom>
          <a:ln w="1270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566160" y="4800600"/>
            <a:ext cx="640080" cy="411480"/>
          </a:xfrm>
          <a:prstGeom prst="line">
            <a:avLst/>
          </a:prstGeom>
          <a:ln w="1270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663440" y="4800600"/>
            <a:ext cx="640080" cy="411480"/>
          </a:xfrm>
          <a:prstGeom prst="line">
            <a:avLst/>
          </a:prstGeom>
          <a:ln w="12700">
            <a:solidFill>
              <a:srgbClr val="5C6C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194560" y="5669280"/>
            <a:ext cx="16916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58568" y="5724144"/>
            <a:ext cx="15636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F18E2B"/>
                </a:solidFill>
                <a:latin typeface="Microsoft YaHei"/>
              </a:rPr>
              <a:t>orange = important patent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Origin &amp; Development Analysis：把主路径拆到 claim-level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主路径回答“哪条路”，起源分析回答“由哪些技术融合”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10/15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874519"/>
            <a:ext cx="1005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75103"/>
            <a:ext cx="9144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Patent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65960" y="2084831"/>
            <a:ext cx="1554480" cy="0"/>
          </a:xfrm>
          <a:prstGeom prst="line">
            <a:avLst/>
          </a:prstGeom>
          <a:ln w="15875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39" y="1874519"/>
            <a:ext cx="1005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59" y="1975103"/>
            <a:ext cx="9144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Patent 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26279" y="2084831"/>
            <a:ext cx="1554481" cy="0"/>
          </a:xfrm>
          <a:prstGeom prst="line">
            <a:avLst/>
          </a:prstGeom>
          <a:ln w="15875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80759" y="1874519"/>
            <a:ext cx="1005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79" y="1975103"/>
            <a:ext cx="9144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Patent 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084831"/>
            <a:ext cx="1554480" cy="0"/>
          </a:xfrm>
          <a:prstGeom prst="line">
            <a:avLst/>
          </a:prstGeom>
          <a:ln w="15875">
            <a:solidFill>
              <a:srgbClr val="F1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874519"/>
            <a:ext cx="1005840" cy="4206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975103"/>
            <a:ext cx="91440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0A1424"/>
                </a:solidFill>
                <a:latin typeface="Microsoft YaHei"/>
              </a:rPr>
              <a:t>Patent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2788920"/>
            <a:ext cx="274320" cy="219456"/>
          </a:xfrm>
          <a:prstGeom prst="roundRect">
            <a:avLst/>
          </a:prstGeom>
          <a:solidFill>
            <a:srgbClr val="EE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99032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46504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92224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2788920"/>
            <a:ext cx="274320" cy="219456"/>
          </a:xfrm>
          <a:prstGeom prst="roundRect">
            <a:avLst/>
          </a:prstGeom>
          <a:solidFill>
            <a:srgbClr val="EE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9352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52544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2788920"/>
            <a:ext cx="274320" cy="219456"/>
          </a:xfrm>
          <a:prstGeom prst="roundRect">
            <a:avLst/>
          </a:prstGeom>
          <a:solidFill>
            <a:srgbClr val="EE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19672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67144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19" y="2788920"/>
            <a:ext cx="274320" cy="219456"/>
          </a:xfrm>
          <a:prstGeom prst="roundRect">
            <a:avLst/>
          </a:prstGeom>
          <a:solidFill>
            <a:srgbClr val="EEF8FC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79992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25712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27463" y="2788920"/>
            <a:ext cx="274320" cy="219456"/>
          </a:xfrm>
          <a:prstGeom prst="roundRect">
            <a:avLst/>
          </a:prstGeom>
          <a:solidFill>
            <a:srgbClr val="F8FAFD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73184" y="2889503"/>
            <a:ext cx="18287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600" b="1">
                <a:solidFill>
                  <a:srgbClr val="0A1424"/>
                </a:solidFill>
                <a:latin typeface="Microsoft YaHei"/>
              </a:rPr>
              <a:t>c3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3977639"/>
            <a:ext cx="237744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3977639"/>
            <a:ext cx="64008" cy="6858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" y="4096511"/>
            <a:ext cx="2103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步骤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" y="4416552"/>
            <a:ext cx="2103120" cy="1737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取主路径上的重要专利 IP_path。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46120" y="3977639"/>
            <a:ext cx="274320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46120" y="3977639"/>
            <a:ext cx="64008" cy="6858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10712" y="4096511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步骤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10712" y="4416552"/>
            <a:ext cx="2468880" cy="1737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对每个重要专利选 TEP 前 c 个 claims；案例中 c = 5。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72200" y="3977639"/>
            <a:ext cx="29260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3977639"/>
            <a:ext cx="64008" cy="68580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096511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步骤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36792" y="4416552"/>
            <a:ext cx="2651760" cy="1737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为这些 claims 找 MSCI；必要时补相邻专利之间最相似 claim 对。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81160" y="3977639"/>
            <a:ext cx="224028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81160" y="3977639"/>
            <a:ext cx="64008" cy="685800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45752" y="4096511"/>
            <a:ext cx="19659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输出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45752" y="4416552"/>
            <a:ext cx="1965960" cy="1737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得到一张“主路径 + 外部技术来源”的融合图。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14400" y="5349240"/>
            <a:ext cx="104241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" y="5349240"/>
            <a:ext cx="64008" cy="658368"/>
          </a:xfrm>
          <a:prstGeom prst="rect">
            <a:avLst/>
          </a:prstGeom>
          <a:solidFill>
            <a:srgbClr val="2BA6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8992" y="5468112"/>
            <a:ext cx="101498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这一步的课堂价值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" y="5788152"/>
            <a:ext cx="10149840" cy="1463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60" b="0">
                <a:solidFill>
                  <a:srgbClr val="1D2838"/>
                </a:solidFill>
                <a:latin typeface="Microsoft YaHei"/>
              </a:rPr>
              <a:t>它把专利路径讲成了技术故事：某个机器人系统不是凭空出现，而是定位、影像、控制、导航等元素持续汇入。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案例数据：Surgical Robot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3313 件 USPTO 授权专利，13097 条内部引用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11/15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058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133856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1BB7E0"/>
                </a:solidFill>
                <a:latin typeface="Microsoft YaHei"/>
              </a:rPr>
              <a:t>3313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5361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5C6C80"/>
                </a:solidFill>
                <a:latin typeface="Microsoft YaHei"/>
              </a:rPr>
              <a:t>USPTO 授权专利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0058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133856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18E2B"/>
                </a:solidFill>
                <a:latin typeface="Microsoft YaHei"/>
              </a:rPr>
              <a:t>13097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5361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5C6C80"/>
                </a:solidFill>
                <a:latin typeface="Microsoft YaHei"/>
              </a:rPr>
              <a:t>内部引用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0058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6088" y="1133856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8457D6"/>
                </a:solidFill>
                <a:latin typeface="Microsoft YaHei"/>
              </a:rPr>
              <a:t>7.906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5361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5C6C80"/>
                </a:solidFill>
                <a:latin typeface="Microsoft YaHei"/>
              </a:rPr>
              <a:t>Average degree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0058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133856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BA675"/>
                </a:solidFill>
                <a:latin typeface="Microsoft YaHei"/>
              </a:rPr>
              <a:t>0.122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0376" y="15361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5C6C80"/>
                </a:solidFill>
                <a:latin typeface="Microsoft YaHei"/>
              </a:rPr>
              <a:t>Median 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2" y="1005840"/>
            <a:ext cx="19659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84664" y="1133856"/>
            <a:ext cx="17830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D68D6"/>
                </a:solidFill>
                <a:latin typeface="Microsoft YaHei"/>
              </a:rPr>
              <a:t>0.077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84664" y="1536192"/>
            <a:ext cx="17830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80" b="0">
                <a:solidFill>
                  <a:srgbClr val="5C6C80"/>
                </a:solidFill>
                <a:latin typeface="Microsoft YaHei"/>
              </a:rPr>
              <a:t>Average TI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560320"/>
            <a:ext cx="2926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0A1424"/>
                </a:solidFill>
                <a:latin typeface="Microsoft YaHei"/>
              </a:rPr>
              <a:t>TI Distribution：long-tail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749039"/>
            <a:ext cx="201168" cy="150876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43584" y="3383280"/>
            <a:ext cx="201168" cy="1874519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72768" y="3630168"/>
            <a:ext cx="201168" cy="1627632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1952" y="4114800"/>
            <a:ext cx="201168" cy="11430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31136" y="4480560"/>
            <a:ext cx="201168" cy="777240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0" y="4754880"/>
            <a:ext cx="201168" cy="502920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89504" y="4928616"/>
            <a:ext cx="201168" cy="329184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18688" y="5056632"/>
            <a:ext cx="201168" cy="201168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47872" y="5129784"/>
            <a:ext cx="201168" cy="128016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77056" y="5175504"/>
            <a:ext cx="201168" cy="82296"/>
          </a:xfrm>
          <a:prstGeom prst="rect">
            <a:avLst/>
          </a:prstGeom>
          <a:solidFill>
            <a:srgbClr val="B2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4023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5C6C80"/>
                </a:solidFill>
                <a:latin typeface="Microsoft YaHei"/>
              </a:rPr>
              <a:t>多数 citation 技术继承度较低；少数高 TI 引用构成长尾。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2514600"/>
            <a:ext cx="2926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20640" y="2514600"/>
            <a:ext cx="64008" cy="91440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85231" y="2633472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解释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1" y="2953512"/>
            <a:ext cx="265176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很多引用是背景性或法律性引用，不一定意味着强技术继承。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2514600"/>
            <a:ext cx="2926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2514600"/>
            <a:ext cx="64008" cy="9144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2633472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解释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2953512"/>
            <a:ext cx="265176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高 TI 引用较少，也可能因为高度相似专利存在侵权/novelty 风险。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0640" y="3840480"/>
            <a:ext cx="61264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20640" y="3840480"/>
            <a:ext cx="64008" cy="91440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5231" y="3959352"/>
            <a:ext cx="5852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50" b="1">
                <a:solidFill>
                  <a:srgbClr val="0A1424"/>
                </a:solidFill>
                <a:latin typeface="Microsoft YaHei"/>
              </a:rPr>
              <a:t>汇报点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85231" y="4279392"/>
            <a:ext cx="5852160" cy="4023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这正是本文要结合 claims 的原因：不能把所有 citation 都当成同等强度的技术继承。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重要技术元素变化：2011–2015 vs 2016–2020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TEP 排名揭示手术机器人热点迁移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12/15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51560"/>
            <a:ext cx="52120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51560"/>
            <a:ext cx="64008" cy="2057400"/>
          </a:xfrm>
          <a:prstGeom prst="rect">
            <a:avLst/>
          </a:prstGeom>
          <a:solidFill>
            <a:srgbClr val="2D6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170431"/>
            <a:ext cx="4937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2011–2015｜偏机械控制与影像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490472"/>
            <a:ext cx="4937760" cy="1545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robotic arm motion control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X-ray imaging / CT scanner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endoscope control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bone alteration positioning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surgical trajectory movement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051560"/>
            <a:ext cx="521208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051560"/>
            <a:ext cx="64008" cy="205740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170431"/>
            <a:ext cx="4937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2016–2020｜偏系统集成与微创器械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490472"/>
            <a:ext cx="4937760" cy="1545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surgical operation systems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microprocessor control device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endoscope insertion with trocar sleeves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minimally invasive surgical robot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• stapling device technique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3320"/>
            <a:ext cx="20116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技术热度变化信号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1D2838"/>
                </a:solidFill>
                <a:latin typeface="Microsoft YaHei"/>
              </a:rPr>
              <a:t>US5236432: device display &amp; operator command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414223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24281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0" y="4251959"/>
            <a:ext cx="1371600" cy="0"/>
          </a:xfrm>
          <a:prstGeom prst="line">
            <a:avLst/>
          </a:prstGeom>
          <a:ln w="1270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03720" y="414223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4281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1D2838"/>
                </a:solidFill>
                <a:latin typeface="Microsoft YaHei"/>
              </a:rPr>
              <a:t>US4979949: robotic arm movement &amp; positioning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464515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12080" y="474573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0" y="4754879"/>
            <a:ext cx="1371600" cy="0"/>
          </a:xfrm>
          <a:prstGeom prst="line">
            <a:avLst/>
          </a:prstGeom>
          <a:ln w="12700">
            <a:solidFill>
              <a:srgbClr val="F18E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464515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1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74573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66360"/>
            <a:ext cx="3840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950" b="0">
                <a:solidFill>
                  <a:srgbClr val="1D2838"/>
                </a:solidFill>
                <a:latin typeface="Microsoft YaHei"/>
              </a:rPr>
              <a:t>US5217003: endoscope with trocar sleeves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514807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24865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10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0" y="5257800"/>
            <a:ext cx="1371600" cy="0"/>
          </a:xfrm>
          <a:prstGeom prst="line">
            <a:avLst/>
          </a:prstGeom>
          <a:ln w="12700">
            <a:solidFill>
              <a:srgbClr val="2BA6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903720" y="5148072"/>
            <a:ext cx="320040" cy="2194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5248656"/>
            <a:ext cx="228599" cy="1097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00" b="1">
                <a:solidFill>
                  <a:srgbClr val="0A1424"/>
                </a:solidFill>
                <a:latin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22191"/>
            <a:ext cx="914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C80"/>
                </a:solidFill>
                <a:latin typeface="Microsoft YaHei"/>
              </a:rPr>
              <a:t>2011–2015 rank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3822191"/>
            <a:ext cx="10058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00" b="0">
                <a:solidFill>
                  <a:srgbClr val="5C6C80"/>
                </a:solidFill>
                <a:latin typeface="Microsoft YaHei"/>
              </a:rPr>
              <a:t>2016–2020 rank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023360"/>
            <a:ext cx="315468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4023360"/>
            <a:ext cx="64008" cy="109728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142232"/>
            <a:ext cx="28803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可能机会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462272"/>
            <a:ext cx="2880360" cy="5852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microprocessor 与 stapling technique 在后期进入重要技术元素列表，论文认为值得关注。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四条主要技术演化路径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Table 5 的课堂化重构：四条路就是四个子领域故事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13/15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43000"/>
            <a:ext cx="10607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5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307592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D54E4A"/>
                </a:solidFill>
                <a:latin typeface="Microsoft YaHei"/>
              </a:rPr>
              <a:t>Path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261872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定位与切割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289304"/>
            <a:ext cx="7269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Laser knife → Laser surgery → Robot-aided surgery → robotic tools/data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417320"/>
            <a:ext cx="7772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D5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42448" y="1472184"/>
            <a:ext cx="6492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D54E4A"/>
                </a:solidFill>
                <a:latin typeface="Microsoft YaHei"/>
              </a:rPr>
              <a:t>main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313432"/>
            <a:ext cx="10607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78024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D68D6"/>
                </a:solidFill>
                <a:latin typeface="Microsoft YaHei"/>
              </a:rPr>
              <a:t>Path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432304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扫描 / 影像导航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459736"/>
            <a:ext cx="7269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Stereotactic apparatus → CT-assisted surgery → image-directed robot → navigation guidance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78440" y="2587752"/>
            <a:ext cx="7772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42448" y="2642616"/>
            <a:ext cx="6492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2D68D6"/>
                </a:solidFill>
                <a:latin typeface="Microsoft YaHei"/>
              </a:rPr>
              <a:t>main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83864"/>
            <a:ext cx="10607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648456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2BA675"/>
                </a:solidFill>
                <a:latin typeface="Microsoft YaHei"/>
              </a:rPr>
              <a:t>Path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02736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眼科 / 头部手术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630168"/>
            <a:ext cx="7269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Fluid control → intraocular suction → ophthalmic instruments → head probe positioning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78440" y="3758184"/>
            <a:ext cx="7772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2BA6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3813048"/>
            <a:ext cx="6492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2BA675"/>
                </a:solidFill>
                <a:latin typeface="Microsoft YaHei"/>
              </a:rPr>
              <a:t>main path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54296"/>
            <a:ext cx="106070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18888"/>
            <a:ext cx="8686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8457D6"/>
                </a:solidFill>
                <a:latin typeface="Microsoft YaHei"/>
              </a:rPr>
              <a:t>Path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4773168"/>
            <a:ext cx="141732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骨科手术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800600"/>
            <a:ext cx="72694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D2838"/>
                </a:solidFill>
                <a:latin typeface="Microsoft YaHei"/>
              </a:rPr>
              <a:t>Bone alteration → image-directed robot → computer-assisted skeletal surgery → fluoroscopic navigation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378440" y="4928616"/>
            <a:ext cx="777240" cy="256032"/>
          </a:xfrm>
          <a:prstGeom prst="roundRect">
            <a:avLst/>
          </a:prstGeom>
          <a:solidFill>
            <a:srgbClr val="EAF7FC"/>
          </a:solidFill>
          <a:ln w="5080">
            <a:solidFill>
              <a:srgbClr val="845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4983479"/>
            <a:ext cx="649224" cy="1188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50" b="1">
                <a:solidFill>
                  <a:srgbClr val="8457D6"/>
                </a:solidFill>
                <a:latin typeface="Microsoft YaHei"/>
              </a:rPr>
              <a:t>main path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4440" y="5806440"/>
            <a:ext cx="9784080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34440" y="5806440"/>
            <a:ext cx="64008" cy="530352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99032" y="5925312"/>
            <a:ext cx="950975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汇报抓手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9032" y="6245352"/>
            <a:ext cx="9509759" cy="1828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00" b="0">
                <a:solidFill>
                  <a:srgbClr val="1D2838"/>
                </a:solidFill>
                <a:latin typeface="Microsoft YaHei"/>
              </a:rPr>
              <a:t>这页不要逐个专利死背；按“定位切割、影像导航、眼科头部、骨科”四个应用方向讲。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A1424"/>
          </a:solidFill>
          <a:ln w="10160">
            <a:solidFill>
              <a:srgbClr val="0A1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155448"/>
            <a:ext cx="7680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重点深挖：Path 2 的技术融合过程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35240" y="164592"/>
            <a:ext cx="3977639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950" b="0">
                <a:solidFill>
                  <a:srgbClr val="BCD5E8"/>
                </a:solidFill>
                <a:latin typeface="Microsoft YaHei"/>
              </a:rPr>
              <a:t>扫描/影像导航路径最能体现 claim-level origin analysis 的价值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6565392"/>
            <a:ext cx="7315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780" b="0">
                <a:solidFill>
                  <a:srgbClr val="5C6C80"/>
                </a:solidFill>
                <a:latin typeface="Microsoft YaHei"/>
              </a:rPr>
              <a:t>DeckForge v2 · Patent claims + citations · Surgical robot 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6547104"/>
            <a:ext cx="621792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5C6C80"/>
                </a:solidFill>
                <a:latin typeface="Microsoft YaHei"/>
              </a:rPr>
              <a:t>14/15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788920"/>
            <a:ext cx="1325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89503"/>
            <a:ext cx="1234439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US4341220</a:t>
            </a:r>
          </a:p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Stereotactic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788920"/>
            <a:ext cx="1325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39" y="2889503"/>
            <a:ext cx="1234439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US4791934</a:t>
            </a:r>
          </a:p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CT-assisted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2788920"/>
            <a:ext cx="1325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2889503"/>
            <a:ext cx="1234439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US5086401</a:t>
            </a:r>
          </a:p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Image-directed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2788920"/>
            <a:ext cx="1325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889503"/>
            <a:ext cx="1234439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US5682886</a:t>
            </a:r>
          </a:p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Computer-assisted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2788920"/>
            <a:ext cx="132588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D6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889503"/>
            <a:ext cx="1234439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US6470207</a:t>
            </a:r>
          </a:p>
          <a:p>
            <a:pPr algn="ctr">
              <a:spcAft>
                <a:spcPts val="200"/>
              </a:spcAft>
            </a:pPr>
            <a:r>
              <a:rPr sz="819" b="1">
                <a:solidFill>
                  <a:srgbClr val="0A1424"/>
                </a:solidFill>
                <a:latin typeface="Microsoft YaHei"/>
              </a:rPr>
              <a:t>Navigation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3090672"/>
            <a:ext cx="868680" cy="0"/>
          </a:xfrm>
          <a:prstGeom prst="line">
            <a:avLst/>
          </a:prstGeom>
          <a:ln w="17145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114800" y="3090672"/>
            <a:ext cx="868680" cy="0"/>
          </a:xfrm>
          <a:prstGeom prst="line">
            <a:avLst/>
          </a:prstGeom>
          <a:ln w="17145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309360" y="3090672"/>
            <a:ext cx="960120" cy="0"/>
          </a:xfrm>
          <a:prstGeom prst="line">
            <a:avLst/>
          </a:prstGeom>
          <a:ln w="17145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95360" y="3090672"/>
            <a:ext cx="960120" cy="0"/>
          </a:xfrm>
          <a:prstGeom prst="line">
            <a:avLst/>
          </a:prstGeom>
          <a:ln w="17145">
            <a:solidFill>
              <a:srgbClr val="2D6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132588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142646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positioning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technique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61288" y="1783080"/>
            <a:ext cx="91440" cy="1005840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508760" y="434340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44398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X-ray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scanning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1252728" y="3392424"/>
            <a:ext cx="731520" cy="950976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063240" y="132588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42646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picture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fusion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3447287" y="1783080"/>
            <a:ext cx="91441" cy="1005840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212080" y="434340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444398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bone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positioning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5641848" y="3392424"/>
            <a:ext cx="45720" cy="950976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132320" y="132588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142646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volumetric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model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07808" y="1783080"/>
            <a:ext cx="320040" cy="1005840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732520" y="434340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0" y="444398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anatomical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features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208008" y="3392424"/>
            <a:ext cx="1005840" cy="950976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287000" y="1325880"/>
            <a:ext cx="960120" cy="457200"/>
          </a:xfrm>
          <a:prstGeom prst="roundRect">
            <a:avLst/>
          </a:prstGeom>
          <a:solidFill>
            <a:srgbClr val="EFF7FD"/>
          </a:solidFill>
          <a:ln w="10160">
            <a:solidFill>
              <a:srgbClr val="1BB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0" y="1426464"/>
            <a:ext cx="86868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virtual</a:t>
            </a:r>
          </a:p>
          <a:p>
            <a:pPr algn="ctr">
              <a:spcAft>
                <a:spcPts val="200"/>
              </a:spcAft>
            </a:pPr>
            <a:r>
              <a:rPr sz="740" b="1">
                <a:solidFill>
                  <a:srgbClr val="0A1424"/>
                </a:solidFill>
                <a:latin typeface="Microsoft YaHei"/>
              </a:rPr>
              <a:t>guidewire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0213848" y="1783080"/>
            <a:ext cx="548640" cy="1005840"/>
          </a:xfrm>
          <a:prstGeom prst="line">
            <a:avLst/>
          </a:prstGeom>
          <a:ln w="11430">
            <a:solidFill>
              <a:srgbClr val="1BB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68680" y="5349240"/>
            <a:ext cx="1037844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" y="5349240"/>
            <a:ext cx="64008" cy="804672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33271" y="5468112"/>
            <a:ext cx="1010411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0A1424"/>
                </a:solidFill>
                <a:latin typeface="Microsoft YaHei"/>
              </a:rPr>
              <a:t>演化逻辑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3271" y="5788152"/>
            <a:ext cx="10104119" cy="2926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030" b="0">
                <a:solidFill>
                  <a:srgbClr val="1D2838"/>
                </a:solidFill>
                <a:latin typeface="Microsoft YaHei"/>
              </a:rPr>
              <a:t>从 stereotactic + X-ray scanning 起步，逐步融合 picture fusion、digital imaging、bone positioning、volumetric model、3D imaging 和 navigational guidance。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98755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</a:rPr>
              <a:t>总结：这篇论文的价值不只是“画主路径”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25880"/>
            <a:ext cx="969264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400" b="0">
                <a:solidFill>
                  <a:srgbClr val="1BB7E0"/>
                </a:solidFill>
                <a:latin typeface="Microsoft YaHei"/>
              </a:rPr>
              <a:t>而是把技术演化解释推进到 claim-level technical element network。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148840"/>
            <a:ext cx="64008" cy="1965960"/>
          </a:xfrm>
          <a:prstGeom prst="rect">
            <a:avLst/>
          </a:prstGeom>
          <a:solidFill>
            <a:srgbClr val="1BB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贡献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87752"/>
            <a:ext cx="3063240" cy="1453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TI 衡量继承强度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TEP 识别重要技术元素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RNIT + Main Paths 展示演化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Origin analysis 解释技术融合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148840"/>
            <a:ext cx="64008" cy="1965960"/>
          </a:xfrm>
          <a:prstGeom prst="rect">
            <a:avLst/>
          </a:prstGeom>
          <a:solidFill>
            <a:srgbClr val="F1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26771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发现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587752"/>
            <a:ext cx="3063240" cy="1453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手术机器人形成四条主路径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影像导航路径体现多技术融合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微处理器、微创器械等后期升温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333756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F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148840"/>
            <a:ext cx="64008" cy="1965960"/>
          </a:xfrm>
          <a:prstGeom prst="rect">
            <a:avLst/>
          </a:prstGeom>
          <a:solidFill>
            <a:srgbClr val="845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267712"/>
            <a:ext cx="30632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300" b="1">
                <a:solidFill>
                  <a:srgbClr val="0A1424"/>
                </a:solidFill>
                <a:latin typeface="Microsoft YaHei"/>
              </a:rPr>
              <a:t>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87752"/>
            <a:ext cx="3063240" cy="145389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0-1 词袋语义弱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未考虑 claim 结构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citation time-delay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D2838"/>
                </a:solidFill>
                <a:latin typeface="Microsoft YaHei"/>
              </a:rPr>
              <a:t>仅限 USPTO 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74920"/>
            <a:ext cx="996696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最终一句话：Claims 提供技术细节，Citations 提供继承关系；二者结合，才能看清技术从哪里来、如何融合、怎样演化。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46520"/>
            <a:ext cx="6400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B4CCE1"/>
                </a:solidFill>
                <a:latin typeface="Microsoft YaHe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